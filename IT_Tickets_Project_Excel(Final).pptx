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Excel%20Newton\Template%20(IT%20Tickets)_Final(Pratiksha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Excel%20Newton\Template%20(IT%20Tickets)_Final(Pratiksha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Excel%20Newton\Template%20(IT%20Tickets)_Final(Pratiksha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Excel%20Newton\Template%20(IT%20Tickets)_Final(Pratiksha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Excel%20Newton\Template%20(IT%20Tickets)_Final(Pratiksha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Excel%20Newton\Template%20(IT%20Tickets)_Final(Pratiksha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Excel%20Newton\Template%20(IT%20Tickets)_Final(Pratiksha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Excel%20Newton\Template%20(IT%20Tickets)_Final(Pratiksha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[Template (IT Tickets)_Final(Pratiksha).xlsx]Sheet1!PivotTable4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 dirty="0">
                <a:solidFill>
                  <a:srgbClr val="002060"/>
                </a:solidFill>
              </a:rPr>
              <a:t>Tickets By Request Category</a:t>
            </a:r>
          </a:p>
        </c:rich>
      </c:tx>
      <c:layout>
        <c:manualLayout>
          <c:xMode val="edge"/>
          <c:yMode val="edge"/>
          <c:x val="0.20762757371037294"/>
          <c:y val="2.21111149764312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Sheet1!$A$8:$A$12</c:f>
              <c:strCache>
                <c:ptCount val="4"/>
                <c:pt idx="0">
                  <c:v>Hardware</c:v>
                </c:pt>
                <c:pt idx="1">
                  <c:v>Login Access</c:v>
                </c:pt>
                <c:pt idx="2">
                  <c:v>Software</c:v>
                </c:pt>
                <c:pt idx="3">
                  <c:v>System</c:v>
                </c:pt>
              </c:strCache>
            </c:strRef>
          </c:cat>
          <c:val>
            <c:numRef>
              <c:f>Sheet1!$B$8:$B$12</c:f>
              <c:numCache>
                <c:formatCode>General</c:formatCode>
                <c:ptCount val="4"/>
                <c:pt idx="0">
                  <c:v>1523</c:v>
                </c:pt>
                <c:pt idx="1">
                  <c:v>4526</c:v>
                </c:pt>
                <c:pt idx="2">
                  <c:v>2946</c:v>
                </c:pt>
                <c:pt idx="3">
                  <c:v>5920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7B-4D95-BCE2-D53F3DD010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8406480"/>
        <c:axId val="1588402640"/>
      </c:barChart>
      <c:catAx>
        <c:axId val="1588406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402640"/>
        <c:crosses val="autoZero"/>
        <c:auto val="1"/>
        <c:lblAlgn val="ctr"/>
        <c:lblOffset val="100"/>
        <c:noMultiLvlLbl val="0"/>
      </c:catAx>
      <c:valAx>
        <c:axId val="158840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406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[Template (IT Tickets)_Final(Pratiksha).xlsx]Sheet1!PivotTable5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2000" b="0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002060"/>
                </a:solidFill>
              </a:rPr>
              <a:t>Tickets By Issue Type</a:t>
            </a:r>
          </a:p>
        </c:rich>
      </c:tx>
      <c:layout>
        <c:manualLayout>
          <c:xMode val="edge"/>
          <c:yMode val="edge"/>
          <c:x val="0.34289002462501683"/>
          <c:y val="3.59440576331982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2000" b="0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Sheet1!$B$24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715-43C3-9E11-115A14D7F601}"/>
              </c:ext>
            </c:extLst>
          </c:dPt>
          <c:dPt>
            <c:idx val="1"/>
            <c:bubble3D val="0"/>
            <c:spPr>
              <a:solidFill>
                <a:schemeClr val="accent5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715-43C3-9E11-115A14D7F6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Sheet1!$A$25:$A$27</c:f>
              <c:strCache>
                <c:ptCount val="2"/>
                <c:pt idx="0">
                  <c:v>IT Error</c:v>
                </c:pt>
                <c:pt idx="1">
                  <c:v>IT Request</c:v>
                </c:pt>
              </c:strCache>
            </c:strRef>
          </c:cat>
          <c:val>
            <c:numRef>
              <c:f>Sheet1!$B$25:$B$27</c:f>
              <c:numCache>
                <c:formatCode>General</c:formatCode>
                <c:ptCount val="2"/>
                <c:pt idx="0">
                  <c:v>3680</c:v>
                </c:pt>
                <c:pt idx="1">
                  <c:v>11235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15-43C3-9E11-115A14D7F60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259252192019295"/>
          <c:y val="0.83022874534266511"/>
          <c:w val="0.46965134099616862"/>
          <c:h val="0.131973710317460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[Template (IT Tickets)_Final(Pratiksha).xlsx]Sheet1!PivotTable6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002060"/>
                </a:solidFill>
              </a:rPr>
              <a:t>Tickets By Severity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Sheet1!$B$36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Sheet1!$A$37:$A$42</c:f>
              <c:strCache>
                <c:ptCount val="5"/>
                <c:pt idx="0">
                  <c:v>0 - Unclassified</c:v>
                </c:pt>
                <c:pt idx="1">
                  <c:v>1 - Minor</c:v>
                </c:pt>
                <c:pt idx="2">
                  <c:v>2 - Normal</c:v>
                </c:pt>
                <c:pt idx="3">
                  <c:v>3 - Major</c:v>
                </c:pt>
                <c:pt idx="4">
                  <c:v>4 - Urgent</c:v>
                </c:pt>
              </c:strCache>
            </c:strRef>
          </c:cat>
          <c:val>
            <c:numRef>
              <c:f>Sheet1!$B$37:$B$42</c:f>
              <c:numCache>
                <c:formatCode>General</c:formatCode>
                <c:ptCount val="5"/>
                <c:pt idx="0">
                  <c:v>34</c:v>
                </c:pt>
                <c:pt idx="1">
                  <c:v>342</c:v>
                </c:pt>
                <c:pt idx="2">
                  <c:v>13594</c:v>
                </c:pt>
                <c:pt idx="3">
                  <c:v>729</c:v>
                </c:pt>
                <c:pt idx="4">
                  <c:v>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AE-477F-B091-488F44CAF7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588372400"/>
        <c:axId val="1588370960"/>
      </c:barChart>
      <c:catAx>
        <c:axId val="1588372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370960"/>
        <c:crosses val="autoZero"/>
        <c:auto val="1"/>
        <c:lblAlgn val="ctr"/>
        <c:lblOffset val="100"/>
        <c:noMultiLvlLbl val="0"/>
      </c:catAx>
      <c:valAx>
        <c:axId val="1588370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372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[Template (IT Tickets)_Final(Pratiksha).xlsx]Sheet1!PivotTable8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US" sz="2400">
                <a:solidFill>
                  <a:srgbClr val="002060"/>
                </a:solidFill>
              </a:rPr>
              <a:t>Tickets</a:t>
            </a:r>
            <a:r>
              <a:rPr lang="en-US" sz="2400" baseline="0">
                <a:solidFill>
                  <a:srgbClr val="002060"/>
                </a:solidFill>
              </a:rPr>
              <a:t> By Priority</a:t>
            </a:r>
          </a:p>
          <a:p>
            <a:pPr>
              <a:defRPr sz="2400">
                <a:solidFill>
                  <a:srgbClr val="002060"/>
                </a:solidFill>
              </a:defRPr>
            </a:pPr>
            <a:endParaRPr lang="en-US" sz="240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Sheet1!$B$49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E86-4B43-8EA4-0A51D6B40BA9}"/>
              </c:ext>
            </c:extLst>
          </c:dPt>
          <c:dPt>
            <c:idx val="1"/>
            <c:bubble3D val="0"/>
            <c:spPr>
              <a:solidFill>
                <a:schemeClr val="accent5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E86-4B43-8EA4-0A51D6B40BA9}"/>
              </c:ext>
            </c:extLst>
          </c:dPt>
          <c:dPt>
            <c:idx val="2"/>
            <c:bubble3D val="0"/>
            <c:spPr>
              <a:solidFill>
                <a:schemeClr val="accent5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E86-4B43-8EA4-0A51D6B40BA9}"/>
              </c:ext>
            </c:extLst>
          </c:dPt>
          <c:dPt>
            <c:idx val="3"/>
            <c:bubble3D val="0"/>
            <c:spPr>
              <a:solidFill>
                <a:schemeClr val="accent5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E86-4B43-8EA4-0A51D6B40BA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Sheet1!$A$50:$A$54</c:f>
              <c:strCache>
                <c:ptCount val="4"/>
                <c:pt idx="0">
                  <c:v>0 - Unassigned</c:v>
                </c:pt>
                <c:pt idx="1">
                  <c:v>1 - Low</c:v>
                </c:pt>
                <c:pt idx="2">
                  <c:v>2 - Mid</c:v>
                </c:pt>
                <c:pt idx="3">
                  <c:v>3 - High</c:v>
                </c:pt>
              </c:strCache>
            </c:strRef>
          </c:cat>
          <c:val>
            <c:numRef>
              <c:f>Sheet1!$B$50:$B$54</c:f>
              <c:numCache>
                <c:formatCode>General</c:formatCode>
                <c:ptCount val="4"/>
                <c:pt idx="0">
                  <c:v>4505</c:v>
                </c:pt>
                <c:pt idx="1">
                  <c:v>2577</c:v>
                </c:pt>
                <c:pt idx="2">
                  <c:v>2411</c:v>
                </c:pt>
                <c:pt idx="3">
                  <c:v>5422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86-4B43-8EA4-0A51D6B40BA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3782156540777229E-2"/>
          <c:y val="0.83022867063492067"/>
          <c:w val="0.93938669950738907"/>
          <c:h val="0.131973710317460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[Template (IT Tickets)_Final(Pratiksha).xlsx]Sheet1!PivotTable9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US" sz="2000" b="0">
                <a:solidFill>
                  <a:srgbClr val="002060"/>
                </a:solidFill>
              </a:rPr>
              <a:t>Resolution</a:t>
            </a:r>
            <a:r>
              <a:rPr lang="en-US" sz="2000" b="0" baseline="0">
                <a:solidFill>
                  <a:srgbClr val="002060"/>
                </a:solidFill>
              </a:rPr>
              <a:t> Time By Severity (Days)</a:t>
            </a:r>
            <a:endParaRPr lang="en-US" sz="2000" b="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Sheet1!$B$63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Sheet1!$A$64:$A$69</c:f>
              <c:strCache>
                <c:ptCount val="5"/>
                <c:pt idx="0">
                  <c:v>0 - Unclassified</c:v>
                </c:pt>
                <c:pt idx="1">
                  <c:v>1 - Minor</c:v>
                </c:pt>
                <c:pt idx="2">
                  <c:v>2 - Normal</c:v>
                </c:pt>
                <c:pt idx="3">
                  <c:v>3 - Major</c:v>
                </c:pt>
                <c:pt idx="4">
                  <c:v>4 - Urgent</c:v>
                </c:pt>
              </c:strCache>
            </c:strRef>
          </c:cat>
          <c:val>
            <c:numRef>
              <c:f>Sheet1!$B$64:$B$69</c:f>
              <c:numCache>
                <c:formatCode>0.00</c:formatCode>
                <c:ptCount val="5"/>
                <c:pt idx="0">
                  <c:v>2.1470588235294117</c:v>
                </c:pt>
                <c:pt idx="1">
                  <c:v>3.9298245614035086</c:v>
                </c:pt>
                <c:pt idx="2">
                  <c:v>4.6228483154332798</c:v>
                </c:pt>
                <c:pt idx="3">
                  <c:v>3.9094650205761319</c:v>
                </c:pt>
                <c:pt idx="4">
                  <c:v>2.1111111111111112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1C-4FCB-8B04-6081252819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88399280"/>
        <c:axId val="1588403120"/>
      </c:barChart>
      <c:catAx>
        <c:axId val="158839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403120"/>
        <c:crosses val="autoZero"/>
        <c:auto val="1"/>
        <c:lblAlgn val="ctr"/>
        <c:lblOffset val="100"/>
        <c:noMultiLvlLbl val="0"/>
      </c:catAx>
      <c:valAx>
        <c:axId val="1588403120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39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[Template (IT Tickets)_Final(Pratiksha).xlsx]Sheet1!PivotTable10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US" sz="2400">
                <a:solidFill>
                  <a:srgbClr val="002060"/>
                </a:solidFill>
              </a:rPr>
              <a:t>Satisfaction</a:t>
            </a:r>
            <a:r>
              <a:rPr lang="en-US" sz="2400" baseline="0">
                <a:solidFill>
                  <a:srgbClr val="002060"/>
                </a:solidFill>
              </a:rPr>
              <a:t> Rate By Severity</a:t>
            </a:r>
            <a:endParaRPr lang="en-US" sz="240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Sheet1!$A$78:$A$83</c:f>
              <c:strCache>
                <c:ptCount val="5"/>
                <c:pt idx="0">
                  <c:v>0 - Unclassified</c:v>
                </c:pt>
                <c:pt idx="1">
                  <c:v>1 - Minor</c:v>
                </c:pt>
                <c:pt idx="2">
                  <c:v>2 - Normal</c:v>
                </c:pt>
                <c:pt idx="3">
                  <c:v>3 - Major</c:v>
                </c:pt>
                <c:pt idx="4">
                  <c:v>4 - Urgent</c:v>
                </c:pt>
              </c:strCache>
            </c:strRef>
          </c:cat>
          <c:val>
            <c:numRef>
              <c:f>Sheet1!$B$78:$B$83</c:f>
              <c:numCache>
                <c:formatCode>0.00</c:formatCode>
                <c:ptCount val="5"/>
                <c:pt idx="0">
                  <c:v>4</c:v>
                </c:pt>
                <c:pt idx="1">
                  <c:v>4.0994152046783627</c:v>
                </c:pt>
                <c:pt idx="2">
                  <c:v>4.0627482712961598</c:v>
                </c:pt>
                <c:pt idx="3">
                  <c:v>4.1536351165980792</c:v>
                </c:pt>
                <c:pt idx="4">
                  <c:v>4.0787037037037033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A7-4CAA-BC0B-A5722DECD9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88413200"/>
        <c:axId val="1588398320"/>
      </c:barChart>
      <c:catAx>
        <c:axId val="158841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398320"/>
        <c:crosses val="autoZero"/>
        <c:auto val="1"/>
        <c:lblAlgn val="ctr"/>
        <c:lblOffset val="100"/>
        <c:noMultiLvlLbl val="0"/>
      </c:catAx>
      <c:valAx>
        <c:axId val="1588398320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41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[Template (IT Tickets)_Final(Pratiksha).xlsx]Sheet1!PivotTable12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IN" sz="2000">
                <a:solidFill>
                  <a:srgbClr val="002060"/>
                </a:solidFill>
              </a:rPr>
              <a:t>Age Group Analysis</a:t>
            </a:r>
          </a:p>
        </c:rich>
      </c:tx>
      <c:layout>
        <c:manualLayout>
          <c:xMode val="edge"/>
          <c:yMode val="edge"/>
          <c:x val="0.34530481795011703"/>
          <c:y val="4.13437553899067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Sheet1!$A$150:$A$154</c:f>
              <c:strCache>
                <c:ptCount val="4"/>
                <c:pt idx="0">
                  <c:v>Experienced</c:v>
                </c:pt>
                <c:pt idx="1">
                  <c:v>Mid-Level</c:v>
                </c:pt>
                <c:pt idx="2">
                  <c:v>Senior</c:v>
                </c:pt>
                <c:pt idx="3">
                  <c:v>Young</c:v>
                </c:pt>
              </c:strCache>
            </c:strRef>
          </c:cat>
          <c:val>
            <c:numRef>
              <c:f>Sheet1!$B$150:$B$154</c:f>
              <c:numCache>
                <c:formatCode>General</c:formatCode>
                <c:ptCount val="4"/>
                <c:pt idx="0">
                  <c:v>2152</c:v>
                </c:pt>
                <c:pt idx="1">
                  <c:v>4408</c:v>
                </c:pt>
                <c:pt idx="2">
                  <c:v>6612</c:v>
                </c:pt>
                <c:pt idx="3">
                  <c:v>1743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41-4D20-AE7E-AEC36195A5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2652768"/>
        <c:axId val="1452659488"/>
      </c:barChart>
      <c:catAx>
        <c:axId val="145265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2659488"/>
        <c:crosses val="autoZero"/>
        <c:auto val="1"/>
        <c:lblAlgn val="ctr"/>
        <c:lblOffset val="100"/>
        <c:noMultiLvlLbl val="0"/>
      </c:catAx>
      <c:valAx>
        <c:axId val="1452659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2652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[Template (IT Tickets)_Final(Pratiksha).xlsx]Sheet1!PivotTable13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rgbClr val="002060"/>
                </a:solidFill>
              </a:rPr>
              <a:t>Resolution Time By Request Category</a:t>
            </a:r>
          </a:p>
        </c:rich>
      </c:tx>
      <c:layout>
        <c:manualLayout>
          <c:xMode val="edge"/>
          <c:yMode val="edge"/>
          <c:x val="0.17889249404172708"/>
          <c:y val="2.97304628653994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Sheet1!$B$163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Sheet1!$A$164:$A$168</c:f>
              <c:strCache>
                <c:ptCount val="4"/>
                <c:pt idx="0">
                  <c:v>Hardware</c:v>
                </c:pt>
                <c:pt idx="1">
                  <c:v>Login Access</c:v>
                </c:pt>
                <c:pt idx="2">
                  <c:v>Software</c:v>
                </c:pt>
                <c:pt idx="3">
                  <c:v>System</c:v>
                </c:pt>
              </c:strCache>
            </c:strRef>
          </c:cat>
          <c:val>
            <c:numRef>
              <c:f>Sheet1!$B$164:$B$168</c:f>
              <c:numCache>
                <c:formatCode>0.00</c:formatCode>
                <c:ptCount val="4"/>
                <c:pt idx="0">
                  <c:v>7.6421536441234403</c:v>
                </c:pt>
                <c:pt idx="1">
                  <c:v>0.32611577551922227</c:v>
                </c:pt>
                <c:pt idx="2">
                  <c:v>5.1751527494908354</c:v>
                </c:pt>
                <c:pt idx="3">
                  <c:v>6.6224662162162158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8C-4FDE-9DAF-442D467AE4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588374320"/>
        <c:axId val="1588369520"/>
      </c:barChart>
      <c:catAx>
        <c:axId val="15883743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369520"/>
        <c:crosses val="autoZero"/>
        <c:auto val="1"/>
        <c:lblAlgn val="ctr"/>
        <c:lblOffset val="100"/>
        <c:noMultiLvlLbl val="0"/>
      </c:catAx>
      <c:valAx>
        <c:axId val="15883695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chemeClr val="accent1">
                        <a:lumMod val="50000"/>
                      </a:schemeClr>
                    </a:solidFill>
                  </a:rPr>
                  <a:t>Average of Resolution Time(Days)</a:t>
                </a:r>
              </a:p>
            </c:rich>
          </c:tx>
          <c:layout>
            <c:manualLayout>
              <c:xMode val="edge"/>
              <c:yMode val="edge"/>
              <c:x val="0.36224082170427269"/>
              <c:y val="0.928132731670735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8374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7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8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1904-E548-C0A7-263A-88D20CB06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CC6E2-0D66-F688-5FE8-6D655A8C9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D5518-1892-650D-A9BA-3576D265F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A5930-9217-DAB5-1044-8CA8B3B6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4F138-45B9-55B2-47F6-F95BAD84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576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23DE-E682-309F-E960-70B7FB3D9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9D877-4B65-6D9D-E9DD-7959EC3F5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D1A05-D740-BC87-B127-999AB298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2319-C09B-F5AB-C6ED-C3B21EED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5D191-A32F-931C-68DE-0B9BA777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44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39AD-66EB-51C6-9680-CC7C7E36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56086-D8AA-9215-5312-1098DA66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B48BA-032A-6F2B-B353-FE3318D9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B5A7C-FBCC-2C66-F15D-5ED96401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F41D0-9F6B-0814-D504-62CAFE4B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62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FCE9-133B-78BB-D62C-16F15282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5268F-3012-2BC8-9F66-085A6D0CE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CB886-4F48-DD4B-0171-A4405D22C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55722-929D-1B08-8EAC-50C6A460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E7ED3-D1FF-9178-9127-53E9E6501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E4643-B0B0-FEBC-843B-680B67CA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58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9282A-10E0-1707-3726-E742B747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6A23F-C1E7-3ED5-AAD7-3B1369DA3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E589A-4ECA-A613-E67F-55BC64C39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13257F-8188-5F38-985C-BC37F2F5D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2CDD5-DE3C-5E37-5896-07F177675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7CFB24-DDF9-2684-E3F2-B9DECB0D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59A739-3BEC-70F2-C8C6-35253610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5F2BA-6BFF-756E-5D2E-0EECEF73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71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6E3C-4F73-2F7F-E975-21EB6F346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34EA3-0E46-0D05-46FD-13283CDB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214BA-0418-CB4F-76DA-D96288A3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1E1D7-D2CC-B483-53BC-BD0AC38E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27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EC78A-9CBE-74B2-FF82-CE81B74A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03263-0753-CB38-5D2F-658F5F55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9E895-CEB2-1F89-AB95-0DC2A286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323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6C86-B3C7-C648-9218-1106B497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2179E-5F9F-B2D1-EF0C-9ED77A86F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12385-D883-EDC4-B582-B9B56A68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D8CCA-F738-4D66-3A45-9B2644FC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0FAC7-FD69-70A3-9101-6C68079C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50C57-E912-7079-66E3-DEB8B756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47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8FFF-AFC9-2AA5-BA71-A30901430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B04C0-074B-6749-2932-B5619C496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26A05-9AD1-B81A-E12D-A7FCC47FF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A58A3-B0B6-6AB6-E775-B6C72810B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32836-E529-1F98-4D5D-77B3ABAC1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35C2E-4251-F1C9-30D4-7C1A1A6D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90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5328-51BD-BBCD-FFFC-EF2D107D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2F477-F186-2439-34FA-CBB48718A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5C624-9B71-EC47-1FAA-F07F63DC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A8393-8F0E-EF45-9231-00D8887B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15175-94A0-2AF2-9B30-B29430FD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70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EB4294-C040-AC42-8D85-707C51851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9FFB7-9FB5-8318-5C32-1F46DC46B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1A628-8014-20F1-645B-698807A75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D39B3-F683-66A2-3CD3-AAE8CD6B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8C08F-077D-E848-C86C-72279D8B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92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603F3-C391-1728-A73A-7511B1AA5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711AB-0E7B-855D-D19C-320A0866C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AC9B2-9912-FF0C-9B31-B31EB6461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E44DD-5073-4E8D-90A9-FBAEC0FC96F8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969DC-2175-5716-1121-C706D9C34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50168-100E-F97A-6689-69AA91068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95F28-C51B-4C1B-B508-4F091E468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71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88498-human-symbol-faq-question-mark-behavio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349564&amp;picture=target-board-clipart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380346/aerial-view-business-data-analysis-graph" TargetMode="External"/><Relationship Id="rId2" Type="http://schemas.openxmlformats.org/officeDocument/2006/relationships/image" Target="../media/image4.1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vgsilh.com/image/155652.html" TargetMode="External"/><Relationship Id="rId3" Type="http://schemas.openxmlformats.org/officeDocument/2006/relationships/hyperlink" Target="https://www.publicdomainpictures.net/view-image.php?image=35817" TargetMode="External"/><Relationship Id="rId7" Type="http://schemas.openxmlformats.org/officeDocument/2006/relationships/image" Target="../media/image8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freepngimg.com/png/17181-time-png-hd" TargetMode="External"/><Relationship Id="rId10" Type="http://schemas.openxmlformats.org/officeDocument/2006/relationships/hyperlink" Target="https://pixabay.com/en/call-center-icon-call-center-2006866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C7F7-1B3F-3DEE-7BA3-4D99AA7CA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584" y="164387"/>
            <a:ext cx="10880333" cy="1592494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solidFill>
                  <a:srgbClr val="002060"/>
                </a:solidFill>
                <a:latin typeface="+mn-lt"/>
              </a:rPr>
              <a:t>IT Support Ticket Analysis</a:t>
            </a:r>
            <a:br>
              <a:rPr lang="en-US" sz="5400" b="1" dirty="0">
                <a:solidFill>
                  <a:srgbClr val="002060"/>
                </a:solidFill>
                <a:latin typeface="+mn-lt"/>
              </a:rPr>
            </a:br>
            <a:r>
              <a:rPr lang="en-US" sz="3100" dirty="0">
                <a:solidFill>
                  <a:srgbClr val="002060"/>
                </a:solidFill>
              </a:rPr>
              <a:t>Performance Analysis of IT Support Operations Using Ticket Data</a:t>
            </a:r>
            <a:endParaRPr lang="en-IN" sz="31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330FC-440B-922F-EE21-ED193D15E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085" y="3690279"/>
            <a:ext cx="9144000" cy="282168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Presented By: </a:t>
            </a:r>
            <a:r>
              <a:rPr lang="en-US" sz="3200" dirty="0"/>
              <a:t>Pratiksha Sanjay Bhadang</a:t>
            </a:r>
          </a:p>
          <a:p>
            <a:pPr algn="l"/>
            <a:r>
              <a:rPr lang="en-US" sz="3200" b="1" dirty="0"/>
              <a:t>Institute: </a:t>
            </a:r>
            <a:r>
              <a:rPr lang="en-US" sz="3200" dirty="0"/>
              <a:t>Newton School</a:t>
            </a:r>
          </a:p>
          <a:p>
            <a:pPr algn="l"/>
            <a:r>
              <a:rPr lang="en-US" sz="3200" b="1" dirty="0"/>
              <a:t>Date: </a:t>
            </a:r>
            <a:r>
              <a:rPr lang="en-US" sz="3200" dirty="0"/>
              <a:t>05 July 2026</a:t>
            </a:r>
          </a:p>
          <a:p>
            <a:pPr algn="l"/>
            <a:endParaRPr lang="en-IN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E97B73-098A-9F08-298F-C728643B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901" y="4161034"/>
            <a:ext cx="5498367" cy="261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05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9CAA-ADA1-155D-962D-ED3064DB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+mn-lt"/>
              </a:rPr>
              <a:t>Agenda</a:t>
            </a:r>
            <a:endParaRPr lang="en-IN" sz="5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90E09F-5370-969E-7F37-B525EF070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987" y="2260315"/>
            <a:ext cx="4541178" cy="377061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dirty="0"/>
              <a:t>5. Data Analysis &amp; Insights</a:t>
            </a:r>
          </a:p>
          <a:p>
            <a:pPr marL="0" indent="0">
              <a:buNone/>
            </a:pPr>
            <a:r>
              <a:rPr lang="en-US" dirty="0"/>
              <a:t>6. Dashboard Overview</a:t>
            </a:r>
          </a:p>
          <a:p>
            <a:pPr marL="0" indent="0">
              <a:buNone/>
            </a:pPr>
            <a:r>
              <a:rPr lang="en-US" dirty="0"/>
              <a:t>7. Recommendations</a:t>
            </a:r>
          </a:p>
          <a:p>
            <a:pPr marL="0" indent="0">
              <a:buNone/>
            </a:pPr>
            <a:r>
              <a:rPr lang="en-US" dirty="0"/>
              <a:t>8. Conclusion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AE708-7C76-D9BE-C569-9AECAFBFE15A}"/>
              </a:ext>
            </a:extLst>
          </p:cNvPr>
          <p:cNvSpPr/>
          <p:nvPr/>
        </p:nvSpPr>
        <p:spPr>
          <a:xfrm>
            <a:off x="729465" y="2260315"/>
            <a:ext cx="4541177" cy="377061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1. Problem Statement</a:t>
            </a:r>
          </a:p>
          <a:p>
            <a:r>
              <a:rPr lang="en-US" sz="2800" dirty="0"/>
              <a:t>2. Project Objective</a:t>
            </a:r>
          </a:p>
          <a:p>
            <a:r>
              <a:rPr lang="en-US" sz="2800" dirty="0"/>
              <a:t>3. Data Overview</a:t>
            </a:r>
          </a:p>
          <a:p>
            <a:r>
              <a:rPr lang="en-US" sz="2800" dirty="0"/>
              <a:t>4. Key Metrics Overview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3196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02C0-F669-F09C-4334-CD62F007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+mn-lt"/>
              </a:rPr>
              <a:t>Problem</a:t>
            </a:r>
            <a:r>
              <a:rPr lang="en-US" sz="5400" b="1" dirty="0">
                <a:solidFill>
                  <a:srgbClr val="002060"/>
                </a:solidFill>
              </a:rPr>
              <a:t> </a:t>
            </a:r>
            <a:r>
              <a:rPr lang="en-US" sz="5400" b="1" dirty="0">
                <a:solidFill>
                  <a:srgbClr val="002060"/>
                </a:solidFill>
                <a:latin typeface="+mn-lt"/>
              </a:rPr>
              <a:t>Statement</a:t>
            </a:r>
            <a:endParaRPr lang="en-IN" sz="5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BEB33-F191-6FD5-6E7D-5E24C258D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IT support teams handle a large number of service requests and technical issues every day. Managing tickets efficiently is essential to ensure quick issue resolution and maintain high user satisfaction.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IN" sz="2400" b="1" dirty="0"/>
              <a:t>This analysis helps identify:</a:t>
            </a:r>
          </a:p>
          <a:p>
            <a:r>
              <a:rPr lang="en-IN" sz="2400" dirty="0"/>
              <a:t>High ticket volume categories.</a:t>
            </a:r>
          </a:p>
          <a:p>
            <a:r>
              <a:rPr lang="en-IN" sz="2400" dirty="0"/>
              <a:t>Delays in issue resolution.</a:t>
            </a:r>
          </a:p>
          <a:p>
            <a:r>
              <a:rPr lang="en-US" sz="2400" dirty="0"/>
              <a:t>Difficulty in prioritizing urgent issues.</a:t>
            </a:r>
          </a:p>
          <a:p>
            <a:r>
              <a:rPr lang="en-IN" sz="2400" dirty="0"/>
              <a:t>Maintaining customer satisfaction.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Goal:</a:t>
            </a:r>
          </a:p>
          <a:p>
            <a:r>
              <a:rPr lang="en-US" sz="2400" dirty="0"/>
              <a:t>Identify problem areas and improve IT support efficiency.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F91DCD-B6D4-12B1-D592-EC77F2A26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0235263" y="77546"/>
            <a:ext cx="2049205" cy="204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5B5D-C193-A29C-306B-E100E9D83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53" y="42677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+mn-lt"/>
              </a:rPr>
              <a:t>Project Objective</a:t>
            </a:r>
            <a:endParaRPr lang="en-IN" sz="5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6F703-57E8-D5C6-EB88-9F82D8B83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53" y="2246866"/>
            <a:ext cx="10515600" cy="4351338"/>
          </a:xfrm>
        </p:spPr>
        <p:txBody>
          <a:bodyPr/>
          <a:lstStyle/>
          <a:p>
            <a:r>
              <a:rPr lang="en-US" dirty="0"/>
              <a:t> Understand ticket patterns/trend.</a:t>
            </a:r>
          </a:p>
          <a:p>
            <a:r>
              <a:rPr lang="en-US" dirty="0"/>
              <a:t> Evaluate support team performance.</a:t>
            </a:r>
          </a:p>
          <a:p>
            <a:r>
              <a:rPr lang="en-US" dirty="0"/>
              <a:t> Identify cause of delay.</a:t>
            </a:r>
          </a:p>
          <a:p>
            <a:r>
              <a:rPr lang="en-IN" dirty="0"/>
              <a:t> Measure customer satisfaction.</a:t>
            </a:r>
          </a:p>
          <a:p>
            <a:r>
              <a:rPr lang="en-IN" dirty="0"/>
              <a:t> Suggest improvement.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E92168-C6C3-B161-8FDE-4BEEC600B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8577207" y="426770"/>
            <a:ext cx="2138737" cy="213873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11568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4C41-CC42-9F89-E783-3452295FB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27" y="217738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Data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67DF2D-8D56-FFCD-DA2B-C5A029CEA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8601011"/>
              </p:ext>
            </p:extLst>
          </p:nvPr>
        </p:nvGraphicFramePr>
        <p:xfrm>
          <a:off x="591620" y="1690688"/>
          <a:ext cx="2891319" cy="4052568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56961">
                  <a:extLst>
                    <a:ext uri="{9D8B030D-6E8A-4147-A177-3AD203B41FA5}">
                      <a16:colId xmlns:a16="http://schemas.microsoft.com/office/drawing/2014/main" val="4224392789"/>
                    </a:ext>
                  </a:extLst>
                </a:gridCol>
                <a:gridCol w="1634358">
                  <a:extLst>
                    <a:ext uri="{9D8B030D-6E8A-4147-A177-3AD203B41FA5}">
                      <a16:colId xmlns:a16="http://schemas.microsoft.com/office/drawing/2014/main" val="3727166774"/>
                    </a:ext>
                  </a:extLst>
                </a:gridCol>
              </a:tblGrid>
              <a:tr h="1013142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Metric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408592"/>
                  </a:ext>
                </a:extLst>
              </a:tr>
              <a:tr h="1013142">
                <a:tc>
                  <a:txBody>
                    <a:bodyPr/>
                    <a:lstStyle/>
                    <a:p>
                      <a:r>
                        <a:rPr lang="en-IN" dirty="0"/>
                        <a:t>Total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97489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703410"/>
                  </a:ext>
                </a:extLst>
              </a:tr>
              <a:tr h="1013142">
                <a:tc>
                  <a:txBody>
                    <a:bodyPr/>
                    <a:lstStyle/>
                    <a:p>
                      <a:r>
                        <a:rPr lang="en-IN" dirty="0"/>
                        <a:t>Total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913235"/>
                  </a:ext>
                </a:extLst>
              </a:tr>
              <a:tr h="1013142">
                <a:tc>
                  <a:txBody>
                    <a:bodyPr/>
                    <a:lstStyle/>
                    <a:p>
                      <a:r>
                        <a:rPr lang="en-IN" dirty="0"/>
                        <a:t>Total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362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3DA66F-1B0D-623D-3963-AE5B728B3B14}"/>
              </a:ext>
            </a:extLst>
          </p:cNvPr>
          <p:cNvSpPr txBox="1"/>
          <p:nvPr/>
        </p:nvSpPr>
        <p:spPr>
          <a:xfrm>
            <a:off x="591620" y="5881368"/>
            <a:ext cx="107099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dataset contains IT support ticket records, including ticket details, issue categories, resolution time, and customer satisfaction metrics.</a:t>
            </a:r>
            <a:endParaRPr lang="en-IN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078638-DAE1-546E-E3F4-52B4819A950E}"/>
              </a:ext>
            </a:extLst>
          </p:cNvPr>
          <p:cNvSpPr/>
          <p:nvPr/>
        </p:nvSpPr>
        <p:spPr>
          <a:xfrm>
            <a:off x="3637053" y="1828800"/>
            <a:ext cx="1845924" cy="329800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u="sng" dirty="0"/>
              <a:t>Ticket Information: 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r>
              <a:rPr lang="en-IN" dirty="0"/>
              <a:t>1. IT Ticket</a:t>
            </a:r>
          </a:p>
          <a:p>
            <a:r>
              <a:rPr lang="en-IN" dirty="0"/>
              <a:t>2. </a:t>
            </a:r>
            <a:r>
              <a:rPr lang="en-IN" dirty="0" err="1"/>
              <a:t>Fecha</a:t>
            </a:r>
            <a:endParaRPr lang="en-IN" dirty="0"/>
          </a:p>
          <a:p>
            <a:r>
              <a:rPr lang="en-IN" dirty="0"/>
              <a:t>3. Employee ID</a:t>
            </a:r>
          </a:p>
          <a:p>
            <a:r>
              <a:rPr lang="en-IN" dirty="0"/>
              <a:t>4. Agent ID</a:t>
            </a:r>
          </a:p>
          <a:p>
            <a:pPr algn="ctr"/>
            <a:endParaRPr lang="en-IN" dirty="0"/>
          </a:p>
          <a:p>
            <a:pPr marL="342900" indent="-342900" algn="ctr">
              <a:buAutoNum type="arabicPeriod"/>
            </a:pP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843CA7-968E-95D6-77E2-96FA0F3D77EE}"/>
              </a:ext>
            </a:extLst>
          </p:cNvPr>
          <p:cNvSpPr/>
          <p:nvPr/>
        </p:nvSpPr>
        <p:spPr>
          <a:xfrm>
            <a:off x="5636657" y="1828800"/>
            <a:ext cx="2000036" cy="329800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u="sng" dirty="0"/>
          </a:p>
          <a:p>
            <a:r>
              <a:rPr lang="en-IN" b="1" u="sng" dirty="0"/>
              <a:t>Issue Details: 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r>
              <a:rPr lang="en-IN" dirty="0"/>
              <a:t>5.Request Category</a:t>
            </a:r>
          </a:p>
          <a:p>
            <a:r>
              <a:rPr lang="en-IN" dirty="0"/>
              <a:t>6. Issue Type </a:t>
            </a:r>
          </a:p>
          <a:p>
            <a:r>
              <a:rPr lang="en-IN" dirty="0"/>
              <a:t>7. Severity</a:t>
            </a:r>
          </a:p>
          <a:p>
            <a:r>
              <a:rPr lang="en-IN" dirty="0"/>
              <a:t>8. Priority</a:t>
            </a:r>
          </a:p>
          <a:p>
            <a:pPr algn="ctr"/>
            <a:endParaRPr lang="en-IN" dirty="0"/>
          </a:p>
          <a:p>
            <a:pPr marL="342900" indent="-342900" algn="ctr">
              <a:buAutoNum type="arabicPeriod"/>
            </a:pP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084308-995D-1D7D-A7E3-7B9E87E3CB43}"/>
              </a:ext>
            </a:extLst>
          </p:cNvPr>
          <p:cNvSpPr/>
          <p:nvPr/>
        </p:nvSpPr>
        <p:spPr>
          <a:xfrm>
            <a:off x="7835129" y="1828800"/>
            <a:ext cx="1926394" cy="329800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u="sng" dirty="0"/>
              <a:t>Performance Metrics: </a:t>
            </a:r>
          </a:p>
          <a:p>
            <a:r>
              <a:rPr lang="en-IN" dirty="0"/>
              <a:t>   </a:t>
            </a:r>
          </a:p>
          <a:p>
            <a:endParaRPr lang="en-IN" dirty="0"/>
          </a:p>
          <a:p>
            <a:r>
              <a:rPr lang="en-IN" dirty="0"/>
              <a:t>9. Resolution Time</a:t>
            </a:r>
          </a:p>
          <a:p>
            <a:r>
              <a:rPr lang="en-IN" dirty="0"/>
              <a:t>10. Satisfaction Rate</a:t>
            </a:r>
          </a:p>
          <a:p>
            <a:r>
              <a:rPr lang="en-IN" dirty="0"/>
              <a:t>11. Severity Score</a:t>
            </a:r>
          </a:p>
          <a:p>
            <a:pPr algn="ctr"/>
            <a:endParaRPr lang="en-IN" dirty="0"/>
          </a:p>
          <a:p>
            <a:pPr marL="342900" indent="-342900" algn="ctr">
              <a:buAutoNum type="arabicPeriod"/>
            </a:pP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98595B-D473-9992-79E3-37DAC50908E0}"/>
              </a:ext>
            </a:extLst>
          </p:cNvPr>
          <p:cNvSpPr/>
          <p:nvPr/>
        </p:nvSpPr>
        <p:spPr>
          <a:xfrm>
            <a:off x="9959959" y="1828800"/>
            <a:ext cx="1845924" cy="329800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u="sng" dirty="0"/>
              <a:t>Agent Details: </a:t>
            </a:r>
          </a:p>
          <a:p>
            <a:endParaRPr lang="en-IN" b="1" u="sng" dirty="0"/>
          </a:p>
          <a:p>
            <a:endParaRPr lang="en-IN" b="1" u="sng" dirty="0"/>
          </a:p>
          <a:p>
            <a:r>
              <a:rPr lang="en-IN" dirty="0"/>
              <a:t>12. Age Name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00761990-961A-B2E8-9623-BCCF73AC7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9159205" y="-297"/>
            <a:ext cx="2646678" cy="17600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7883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C216-E340-0F1F-EC6D-1D9C6806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15" y="297656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Key Metric Overview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7EE3D4-9819-B2A5-7085-4602BB00E71C}"/>
              </a:ext>
            </a:extLst>
          </p:cNvPr>
          <p:cNvSpPr/>
          <p:nvPr/>
        </p:nvSpPr>
        <p:spPr>
          <a:xfrm>
            <a:off x="133564" y="1867681"/>
            <a:ext cx="2880000" cy="1080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>
                <a:solidFill>
                  <a:sysClr val="windowText" lastClr="000000"/>
                </a:solidFill>
              </a:rPr>
              <a:t>TOTAL</a:t>
            </a:r>
            <a:r>
              <a:rPr lang="en-IN" sz="1600" b="1" baseline="0">
                <a:solidFill>
                  <a:sysClr val="windowText" lastClr="000000"/>
                </a:solidFill>
              </a:rPr>
              <a:t> TICKETS</a:t>
            </a:r>
            <a:r>
              <a:rPr lang="en-IN" sz="1600" b="1"/>
              <a:t> </a:t>
            </a:r>
          </a:p>
          <a:p>
            <a:pPr algn="ctr"/>
            <a:r>
              <a:rPr lang="en-IN" sz="2000" b="1">
                <a:solidFill>
                  <a:sysClr val="windowText" lastClr="000000"/>
                </a:solidFill>
              </a:rPr>
              <a:t>97,498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7EE3D4-9819-B2A5-7085-4602BB00E71C}"/>
              </a:ext>
            </a:extLst>
          </p:cNvPr>
          <p:cNvSpPr/>
          <p:nvPr/>
        </p:nvSpPr>
        <p:spPr>
          <a:xfrm>
            <a:off x="3080794" y="1867681"/>
            <a:ext cx="2880000" cy="10800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>
                <a:solidFill>
                  <a:sysClr val="windowText" lastClr="000000"/>
                </a:solidFill>
              </a:rPr>
              <a:t>AVG RESOLUTION TIME</a:t>
            </a:r>
            <a:r>
              <a:rPr lang="en-IN" sz="1600" b="1" dirty="0"/>
              <a:t> </a:t>
            </a:r>
          </a:p>
          <a:p>
            <a:pPr algn="ctr"/>
            <a:r>
              <a:rPr lang="en-IN" sz="2000" b="1" dirty="0">
                <a:solidFill>
                  <a:sysClr val="windowText" lastClr="000000"/>
                </a:solidFill>
              </a:rPr>
              <a:t>4.55</a:t>
            </a:r>
          </a:p>
          <a:p>
            <a:pPr algn="ctr"/>
            <a:r>
              <a:rPr lang="en-IN" sz="1400" b="1" dirty="0">
                <a:solidFill>
                  <a:sysClr val="windowText" lastClr="000000"/>
                </a:solidFill>
              </a:rPr>
              <a:t>DAYS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7EE3D4-9819-B2A5-7085-4602BB00E71C}"/>
              </a:ext>
            </a:extLst>
          </p:cNvPr>
          <p:cNvSpPr/>
          <p:nvPr/>
        </p:nvSpPr>
        <p:spPr>
          <a:xfrm>
            <a:off x="6058682" y="1867681"/>
            <a:ext cx="2880000" cy="10800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>
                <a:solidFill>
                  <a:sysClr val="windowText" lastClr="000000"/>
                </a:solidFill>
              </a:rPr>
              <a:t>AVG SATISFACTION RATE</a:t>
            </a:r>
            <a:r>
              <a:rPr lang="en-IN" sz="1600" b="1" dirty="0"/>
              <a:t> </a:t>
            </a:r>
          </a:p>
          <a:p>
            <a:pPr algn="ctr"/>
            <a:r>
              <a:rPr lang="en-IN" sz="2000" b="1" dirty="0">
                <a:solidFill>
                  <a:sysClr val="windowText" lastClr="000000"/>
                </a:solidFill>
              </a:rPr>
              <a:t>4.10</a:t>
            </a:r>
          </a:p>
          <a:p>
            <a:pPr algn="ctr"/>
            <a:r>
              <a:rPr lang="en-IN" sz="1400" b="1" dirty="0">
                <a:solidFill>
                  <a:sysClr val="windowText" lastClr="000000"/>
                </a:solidFill>
              </a:rPr>
              <a:t>/5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7EE3D4-9819-B2A5-7085-4602BB00E71C}"/>
              </a:ext>
            </a:extLst>
          </p:cNvPr>
          <p:cNvSpPr/>
          <p:nvPr/>
        </p:nvSpPr>
        <p:spPr>
          <a:xfrm>
            <a:off x="9036570" y="1867681"/>
            <a:ext cx="2880000" cy="108000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>
                <a:solidFill>
                  <a:sysClr val="windowText" lastClr="000000"/>
                </a:solidFill>
              </a:rPr>
              <a:t>TOTAL</a:t>
            </a:r>
            <a:r>
              <a:rPr lang="en-IN" sz="1600" b="1" baseline="0" dirty="0">
                <a:solidFill>
                  <a:sysClr val="windowText" lastClr="000000"/>
                </a:solidFill>
              </a:rPr>
              <a:t> </a:t>
            </a:r>
            <a:r>
              <a:rPr lang="en-IN" sz="1600" b="1" dirty="0">
                <a:solidFill>
                  <a:sysClr val="windowText" lastClr="000000"/>
                </a:solidFill>
              </a:rPr>
              <a:t>AGENTS</a:t>
            </a:r>
            <a:r>
              <a:rPr lang="en-IN" sz="1600" b="1" dirty="0"/>
              <a:t> </a:t>
            </a:r>
          </a:p>
          <a:p>
            <a:pPr algn="ctr"/>
            <a:r>
              <a:rPr lang="en-IN" sz="2000" b="1" dirty="0">
                <a:solidFill>
                  <a:sysClr val="windowText" lastClr="000000"/>
                </a:solidFill>
              </a:rPr>
              <a:t>50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662EACD-9E43-C567-2884-3C78E49AE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75430" y="2407681"/>
            <a:ext cx="867739" cy="441427"/>
          </a:xfr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FFBEB33-8A01-93CC-BA64-E45E07BEE9E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3386251" y="2291137"/>
            <a:ext cx="562510" cy="55797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CD818D6-8363-EB47-4059-D453811F2A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/>
        </p:blipFill>
        <p:spPr>
          <a:xfrm>
            <a:off x="6266251" y="2204533"/>
            <a:ext cx="731178" cy="73117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3DAB290-02B6-8C0D-2F04-11DE4A64A5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/>
          <a:stretch/>
        </p:blipFill>
        <p:spPr>
          <a:xfrm>
            <a:off x="9186363" y="2198551"/>
            <a:ext cx="914400" cy="65055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ECCE0F9-361F-7CBC-67FC-8D481CFF4480}"/>
              </a:ext>
            </a:extLst>
          </p:cNvPr>
          <p:cNvSpPr txBox="1"/>
          <p:nvPr/>
        </p:nvSpPr>
        <p:spPr>
          <a:xfrm>
            <a:off x="469983" y="3272563"/>
            <a:ext cx="8101622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Insights: </a:t>
            </a:r>
          </a:p>
          <a:p>
            <a:endParaRPr lang="en-I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High ticket volume handled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Resolution time is moderate.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Customer satisfaction is good.</a:t>
            </a:r>
          </a:p>
        </p:txBody>
      </p:sp>
    </p:spTree>
    <p:extLst>
      <p:ext uri="{BB962C8B-B14F-4D97-AF65-F5344CB8AC3E}">
        <p14:creationId xmlns:p14="http://schemas.microsoft.com/office/powerpoint/2010/main" val="194396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A74DC-EA8C-4632-48C6-4E420F96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46" y="390087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+mn-lt"/>
              </a:rPr>
              <a:t>Data Analysis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FB619-591E-5A22-C26C-3E42E1AA6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04" y="2359881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IN" sz="3200" u="sng" dirty="0"/>
              <a:t>Tickets By Request Category: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Insights-</a:t>
            </a:r>
          </a:p>
          <a:p>
            <a:r>
              <a:rPr lang="en-US" sz="2400" dirty="0"/>
              <a:t>System category has highest ticket volume.</a:t>
            </a:r>
          </a:p>
          <a:p>
            <a:r>
              <a:rPr lang="en-US" sz="2400" dirty="0"/>
              <a:t>Software and Login Access follow.</a:t>
            </a:r>
          </a:p>
          <a:p>
            <a:r>
              <a:rPr lang="en-US" sz="2400" dirty="0"/>
              <a:t>Hardware has lowest ticket volume.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479884D-B072-4249-9FBB-9A375B348E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793999"/>
              </p:ext>
            </p:extLst>
          </p:nvPr>
        </p:nvGraphicFramePr>
        <p:xfrm>
          <a:off x="6375201" y="2359881"/>
          <a:ext cx="5666112" cy="3645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734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1BA2-A068-1875-E88B-C084296EA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Data Analysis &amp; Insights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24A58-484A-2FE5-B151-2BCE0DFC4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04" y="19078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2. </a:t>
            </a:r>
            <a:r>
              <a:rPr lang="en-IN" sz="3200" u="sng" dirty="0"/>
              <a:t>Tickets By Issue Type:</a:t>
            </a:r>
          </a:p>
          <a:p>
            <a:r>
              <a:rPr lang="en-IN" sz="2400" dirty="0"/>
              <a:t>IT Request: 73,220</a:t>
            </a:r>
          </a:p>
          <a:p>
            <a:r>
              <a:rPr lang="en-IN" sz="2400" dirty="0"/>
              <a:t>IT Error: 24,278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Insights-</a:t>
            </a:r>
          </a:p>
          <a:p>
            <a:r>
              <a:rPr lang="en-US" sz="2400" dirty="0"/>
              <a:t>IT Requests dominate support workload.</a:t>
            </a:r>
          </a:p>
          <a:p>
            <a:r>
              <a:rPr lang="en-US" sz="2400" dirty="0"/>
              <a:t>Errors are lower compared to requests.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6478109-0E84-4517-8D89-1F89641E5B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8386806"/>
              </p:ext>
            </p:extLst>
          </p:nvPr>
        </p:nvGraphicFramePr>
        <p:xfrm>
          <a:off x="6260386" y="2041383"/>
          <a:ext cx="5193499" cy="3311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69222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F9C4A-E37E-2B91-FA12-CCA35E07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62CAD-83BC-DEFA-ED6F-227A896A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Data Analysis &amp; Insights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E4600-72A6-21F9-32A1-96D461F47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04" y="19078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3. </a:t>
            </a:r>
            <a:r>
              <a:rPr lang="en-IN" sz="3200" u="sng" dirty="0"/>
              <a:t>Tickets By Severity: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Insights-</a:t>
            </a:r>
          </a:p>
          <a:p>
            <a:r>
              <a:rPr lang="en-US" sz="2400" dirty="0"/>
              <a:t>Normal severity dominates with 88,656 tickets.</a:t>
            </a:r>
          </a:p>
          <a:p>
            <a:r>
              <a:rPr lang="en-IN" sz="2400" dirty="0"/>
              <a:t>Urgent tickets are minimal.</a:t>
            </a:r>
          </a:p>
          <a:p>
            <a:r>
              <a:rPr lang="en-US" sz="2400" dirty="0"/>
              <a:t>Most issues are routine operational requests.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6A936AC-3775-4E2B-A297-FB3DBB5B9D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2665059"/>
              </p:ext>
            </p:extLst>
          </p:nvPr>
        </p:nvGraphicFramePr>
        <p:xfrm>
          <a:off x="6739847" y="2013733"/>
          <a:ext cx="5250095" cy="38836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05865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869E3-355B-3FB0-104C-D59886BF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0C3D-32FF-668F-D76A-B3295B4F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Data Analysis &amp; Insights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4A05E-EA9B-4217-4EDA-0372A4804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04" y="19078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4. </a:t>
            </a:r>
            <a:r>
              <a:rPr lang="en-IN" sz="3200" u="sng" dirty="0"/>
              <a:t>Tickets By Priority: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Insights-</a:t>
            </a:r>
          </a:p>
          <a:p>
            <a:r>
              <a:rPr lang="en-US" sz="2400" dirty="0"/>
              <a:t>High priority tickets form a major portion.</a:t>
            </a:r>
          </a:p>
          <a:p>
            <a:r>
              <a:rPr lang="en-US" sz="2400" dirty="0"/>
              <a:t>Low and mid priority also significant.</a:t>
            </a:r>
          </a:p>
          <a:p>
            <a:r>
              <a:rPr lang="en-IN" sz="2400" dirty="0"/>
              <a:t>Unassigned tickets require monitoring</a:t>
            </a:r>
            <a:r>
              <a:rPr lang="en-US" sz="2400" dirty="0"/>
              <a:t>.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9752BE9-3CD1-4EF3-8E14-946397C788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0498895"/>
              </p:ext>
            </p:extLst>
          </p:nvPr>
        </p:nvGraphicFramePr>
        <p:xfrm>
          <a:off x="6431622" y="2005842"/>
          <a:ext cx="5415338" cy="3716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321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23136-252C-90A5-8D89-AF0FDB4F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486D-E4B7-765C-E020-1333AD23A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Data Analysis &amp; Insights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D228-4DC6-0AF7-CEE7-838AEC575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04" y="19078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5. </a:t>
            </a:r>
            <a:r>
              <a:rPr lang="en-IN" sz="3200" u="sng" dirty="0"/>
              <a:t>Resolution Time By Severity: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Insights-</a:t>
            </a:r>
          </a:p>
          <a:p>
            <a:r>
              <a:rPr lang="en-US" sz="2400" dirty="0"/>
              <a:t>Normal severity takes longest (4.66 days).</a:t>
            </a:r>
          </a:p>
          <a:p>
            <a:r>
              <a:rPr lang="en-US" sz="2400" dirty="0"/>
              <a:t>Urgent issues resolved fastest (2 days).</a:t>
            </a:r>
          </a:p>
          <a:p>
            <a:r>
              <a:rPr lang="en-US" sz="2400" dirty="0"/>
              <a:t>Critical issues are handled efficiently.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E15DFD6-A376-4C65-8E86-2C8AAAADD9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962133"/>
              </p:ext>
            </p:extLst>
          </p:nvPr>
        </p:nvGraphicFramePr>
        <p:xfrm>
          <a:off x="6095999" y="2057212"/>
          <a:ext cx="5976135" cy="373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06574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51A16-76F6-8020-C1D8-01A87D1C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3837-5BCE-044C-68D4-7E61AF5CC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Data Analysis &amp; Insights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7F71F-A5DD-BC48-33F7-963ED8CDB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04" y="19078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6. </a:t>
            </a:r>
            <a:r>
              <a:rPr lang="en-IN" sz="3200" u="sng" dirty="0"/>
              <a:t>Satisfaction Rate By Severity:</a:t>
            </a: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Insights-</a:t>
            </a:r>
          </a:p>
          <a:p>
            <a:r>
              <a:rPr lang="en-US" sz="2400" dirty="0"/>
              <a:t>Satisfaction remains stable across severity levels.</a:t>
            </a:r>
          </a:p>
          <a:p>
            <a:r>
              <a:rPr lang="en-US" sz="2400" dirty="0"/>
              <a:t>Ratings are consistently around 4.1.</a:t>
            </a:r>
          </a:p>
          <a:p>
            <a:r>
              <a:rPr lang="en-US" sz="2400" dirty="0"/>
              <a:t>Overall customer experience is positive.</a:t>
            </a:r>
            <a:endParaRPr lang="en-IN" sz="24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2F00B71-ACF6-44C9-9E72-F9335F23EE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7612421"/>
              </p:ext>
            </p:extLst>
          </p:nvPr>
        </p:nvGraphicFramePr>
        <p:xfrm>
          <a:off x="6888909" y="1907819"/>
          <a:ext cx="5224321" cy="3516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06035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FFF53-6724-31B7-78FC-13D7C7FD3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AFA42-C06D-EAD7-3A5A-099139B2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Data Analysis &amp; Insights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B20E3-65CD-A148-A7ED-5D597D1FC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04" y="19078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7. </a:t>
            </a:r>
            <a:r>
              <a:rPr lang="en-IN" sz="3200" u="sng" dirty="0"/>
              <a:t>Age Group Analysis:</a:t>
            </a:r>
            <a:endParaRPr lang="en-IN" sz="2400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Insights-</a:t>
            </a:r>
          </a:p>
          <a:p>
            <a:r>
              <a:rPr lang="en-US" sz="2400" dirty="0"/>
              <a:t>Senior users generate most tickets.</a:t>
            </a:r>
          </a:p>
          <a:p>
            <a:r>
              <a:rPr lang="en-US" sz="2400" dirty="0"/>
              <a:t>Young users generate fewer tickets.</a:t>
            </a:r>
          </a:p>
          <a:p>
            <a:r>
              <a:rPr lang="en-US" sz="2400" dirty="0"/>
              <a:t>Ticket behavior varies by age group.</a:t>
            </a:r>
            <a:endParaRPr lang="en-IN" sz="24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6FBEA59-00E9-4174-9003-3A061B93CF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921170"/>
              </p:ext>
            </p:extLst>
          </p:nvPr>
        </p:nvGraphicFramePr>
        <p:xfrm>
          <a:off x="6411074" y="2057213"/>
          <a:ext cx="5527496" cy="3449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6164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E688-E812-2D0D-A3FF-4BC3E04CD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1AC4-A4D2-E069-F2FA-DF5E6506F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Data Analysis &amp; Insights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28397-1026-D387-7279-F770CE0F9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04" y="19078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8. </a:t>
            </a:r>
            <a:r>
              <a:rPr lang="en-IN" sz="3200" u="sng" dirty="0"/>
              <a:t>Resolution Time By Request Category:</a:t>
            </a:r>
            <a:endParaRPr lang="en-IN" sz="2400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Insights-</a:t>
            </a:r>
          </a:p>
          <a:p>
            <a:r>
              <a:rPr lang="en-US" sz="2400" dirty="0"/>
              <a:t>Hardware requests take longest (7.63 days).</a:t>
            </a:r>
          </a:p>
          <a:p>
            <a:r>
              <a:rPr lang="en-US" sz="2400" dirty="0"/>
              <a:t>System issues also take longer.</a:t>
            </a:r>
          </a:p>
          <a:p>
            <a:r>
              <a:rPr lang="en-US" sz="2400" dirty="0"/>
              <a:t>Login access resolved fastest (0.31 days).</a:t>
            </a:r>
            <a:endParaRPr lang="en-IN" sz="24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F6DCEFD-29A0-4D12-928B-11E604F3C8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9513412"/>
              </p:ext>
            </p:extLst>
          </p:nvPr>
        </p:nvGraphicFramePr>
        <p:xfrm>
          <a:off x="6513817" y="2523740"/>
          <a:ext cx="5322012" cy="3476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4984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D3C75-E380-9C85-A674-BE05D2650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4CD5-D567-7770-0CEF-4F194B7B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Dashboard Overview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063381-2B51-DB99-1F89-1496CFDF0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567A75-35D0-277D-BF38-97D8EECA2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23" y="1479479"/>
            <a:ext cx="11795641" cy="525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69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CFBE-7B90-B613-2D3B-AB7D4F47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15F6-1326-35D8-1CB6-279BEBD1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604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Recommendations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CA15-DE97-1B30-40A8-FC59B51C1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73" y="1772881"/>
            <a:ext cx="10665431" cy="4956692"/>
          </a:xfrm>
        </p:spPr>
        <p:txBody>
          <a:bodyPr/>
          <a:lstStyle/>
          <a:p>
            <a:r>
              <a:rPr lang="en-US" sz="2400" b="1" dirty="0"/>
              <a:t>Increase staff during peak hours:</a:t>
            </a:r>
            <a:r>
              <a:rPr lang="en-US" sz="2400" dirty="0"/>
              <a:t> High ticket volume during busy periods can delay issue resolution. Adding more support staff can reduce workload and improve response time.</a:t>
            </a:r>
          </a:p>
          <a:p>
            <a:r>
              <a:rPr lang="en-IN" sz="2400" b="1" dirty="0"/>
              <a:t>Improve hardware support service:</a:t>
            </a:r>
            <a:r>
              <a:rPr lang="en-US" sz="2400" b="1" dirty="0"/>
              <a:t> </a:t>
            </a:r>
            <a:r>
              <a:rPr lang="en-US" sz="2400" dirty="0"/>
              <a:t>Hardware-related tickets take longer to resolve. Improving hardware support processes can help reduce delays.</a:t>
            </a:r>
            <a:endParaRPr lang="en-IN" sz="2400" dirty="0"/>
          </a:p>
          <a:p>
            <a:r>
              <a:rPr lang="en-IN" sz="2400" b="1" dirty="0"/>
              <a:t>Automate common login issues:</a:t>
            </a:r>
            <a:r>
              <a:rPr lang="en-US" sz="2400" b="1" dirty="0"/>
              <a:t> </a:t>
            </a:r>
            <a:r>
              <a:rPr lang="en-US" sz="2400" dirty="0"/>
              <a:t>Many login/access issues are repetitive. Automation can solve these quickly and reduce manual effort.</a:t>
            </a:r>
            <a:endParaRPr lang="en-IN" sz="2400" dirty="0"/>
          </a:p>
          <a:p>
            <a:r>
              <a:rPr lang="en-IN" sz="2400" b="1" dirty="0"/>
              <a:t>Resolve system issues faster:</a:t>
            </a:r>
            <a:r>
              <a:rPr lang="en-US" sz="2400" b="1" dirty="0"/>
              <a:t> </a:t>
            </a:r>
            <a:r>
              <a:rPr lang="en-US" sz="2400" dirty="0"/>
              <a:t>System-related tickets are the highest in volume. Faster resolution can improve overall support efficiency.</a:t>
            </a:r>
            <a:endParaRPr lang="en-IN" sz="2400" dirty="0"/>
          </a:p>
          <a:p>
            <a:r>
              <a:rPr lang="en-IN" sz="2400" b="1" dirty="0"/>
              <a:t>Monitor unassigned tickets regularly:</a:t>
            </a:r>
            <a:r>
              <a:rPr lang="en-US" sz="2400" b="1" dirty="0"/>
              <a:t> </a:t>
            </a:r>
            <a:r>
              <a:rPr lang="en-US" sz="2400" dirty="0"/>
              <a:t>Unassigned tickets may lead to delays. Regular monitoring ensures all tickets are addressed on time.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36240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D8ED-0EB2-6A05-505E-65251CC6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2F54-17E7-C58E-9A71-8AF3C9CE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604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2060"/>
                </a:solidFill>
                <a:latin typeface="+mn-lt"/>
              </a:rPr>
              <a:t>Conclusion</a:t>
            </a:r>
            <a:endParaRPr lang="en-IN" sz="54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49A8F-0883-E7E0-BB24-BCE03FE3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404" y="2050284"/>
            <a:ext cx="9894014" cy="4237501"/>
          </a:xfrm>
        </p:spPr>
        <p:txBody>
          <a:bodyPr/>
          <a:lstStyle/>
          <a:p>
            <a:r>
              <a:rPr lang="en-US" sz="2400" dirty="0"/>
              <a:t>The IT support team handles a high volume of tickets effectively while maintaining good customer satisfaction. </a:t>
            </a:r>
          </a:p>
          <a:p>
            <a:r>
              <a:rPr lang="en-US" sz="2400" dirty="0"/>
              <a:t>However, system and hardware-related issues require focused improvement to reduce resolution time and improve efficiency.</a:t>
            </a:r>
          </a:p>
          <a:p>
            <a:r>
              <a:rPr lang="en-US" sz="2400" dirty="0"/>
              <a:t>Data-driven decision making can further enhance support performance.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43974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1F708-0F97-92FF-8D12-175E74A4B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53" y="1479480"/>
            <a:ext cx="10781872" cy="2712376"/>
          </a:xfrm>
        </p:spPr>
        <p:txBody>
          <a:bodyPr>
            <a:normAutofit/>
          </a:bodyPr>
          <a:lstStyle/>
          <a:p>
            <a:r>
              <a:rPr lang="en-IN" sz="6600" dirty="0">
                <a:latin typeface="+mn-lt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078418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754</Words>
  <Application>Microsoft Office PowerPoint</Application>
  <PresentationFormat>Widescreen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IT Support Ticket Analysis Performance Analysis of IT Support Operations Using Ticket Data</vt:lpstr>
      <vt:lpstr>Agenda</vt:lpstr>
      <vt:lpstr>Problem Statement</vt:lpstr>
      <vt:lpstr>Project Objective</vt:lpstr>
      <vt:lpstr>Data Overview</vt:lpstr>
      <vt:lpstr>Key Metric Overview</vt:lpstr>
      <vt:lpstr>Data Analysis &amp; Insights</vt:lpstr>
      <vt:lpstr>Data Analysis &amp; Insights</vt:lpstr>
      <vt:lpstr>Data Analysis &amp; Insights</vt:lpstr>
      <vt:lpstr>Data Analysis &amp; Insights</vt:lpstr>
      <vt:lpstr>Data Analysis &amp; Insights</vt:lpstr>
      <vt:lpstr>Data Analysis &amp; Insights</vt:lpstr>
      <vt:lpstr>Data Analysis &amp; Insights</vt:lpstr>
      <vt:lpstr>Data Analysis &amp; Insights</vt:lpstr>
      <vt:lpstr>Dashboard Overview</vt:lpstr>
      <vt:lpstr>Recommendations</vt:lpstr>
      <vt:lpstr>Conclusion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8</cp:revision>
  <dcterms:created xsi:type="dcterms:W3CDTF">2026-07-04T12:18:05Z</dcterms:created>
  <dcterms:modified xsi:type="dcterms:W3CDTF">2026-07-10T21:18:50Z</dcterms:modified>
</cp:coreProperties>
</file>